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各位好，我是 Cell Atlas 的开发者。今天不讲一个宏大的平台，先请大家看一节已经能走完的细胞生物学课：学生进入一个浏览器里的三维细胞空间，通过点击结构、观察机制、做实验和完成练习，真正把知识走一遍。我们先从产品，再谈我们想把这件事带到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说问题。细胞生物学最难的不是背名词，而是空间关系和动态过程。传统材料要么是二维图，要么是不可操作的视频。学生看完之后，仍然不知道自己有没有真正理解。我们要补的不是更多信息，而是一个可以操作、可以犯错、可以修正的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产品是什么？一句话：一个可以在浏览器里操作细胞的教学空间。它不是把课本做成视频，而是把章节、模型、实验和练习接到同一条学习路径上。现在已经有 16 章 44 节的内容地图、14 个程序化模型，以及两节可以完整走完的互动课。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节课被拆成四个阶段。认识结构时，学生不能只点“下一步”，必须真的点到四个结构；观察机制时，五个步骤都要看过；动手探索时，要选预测、改条件、跑目标实验；最后用辨认、排序和分析完成迁移。每一次操作都会成为课程引擎的证据，而不是只看一个播放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这是产品的技术核心。课程引擎独立于 UI、Three.js 和 AI，负责证据、阶段门槛、完成条件和快照。AI 未来只能拿到只读的上下文，做解释、追问和提示；它不能 dispatch，不能标记完成。这样即使 AI 不可用，课程仍然能上完。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内容侧我们现在有两节完整互动课：跨膜运输和 FRAP。跨膜运输有五个机制步骤、ATP 0% 的目标实验和三道练习；FRAP 有四个机制步骤、可移动比例和交换速度、恢复平台和半时两个指标。14 个模型和 16 章 44 节已经对齐，但目前只有 2/44 节达到完整互动化，这是我们的真实进度。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技术上我们坚持全程序化：没有下载的模型、贴图、HDR 或字体。好处是资产轻、可版本化、视觉统一，也方便在不同终端复用。现在同一套课程可以部署成公开网页，也可以作为 DSH 聊天插件在对话里打开。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交付上我们做了两条路径。公开网页适合零安装分享，学生打开链接就能用；DSH 插件则把同一套模型和课程带进聊天，不离开对话。两条路径共享同一套内容、同一套引擎和同一套判定，不是两个不同的产品。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东西对三类人有价值。对学生，它是一个可以自己走完的空间；对教师，它把教材页码、学习目标和练习反馈连起来，能看见学生卡在哪；对内容和技术团队，课程定义、实验、模型和进度是解耦的，可以用同一套模板继续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我想诚实地讲今天的边界。已经可用的是两节课、14 个模型、两个交付端和本地进度；正在补齐的是其余 42 节、FRET、作者工具和无障碍；尚未接入的是 AI、云记忆、教师 dashboard 和课堂分析。现在它是一个可运行的 MVP，不是完成品。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路线图分三步。先补内容深度：FRET、五到八节课、课程模板和教师试用；再做教学闭环：可选 AI 助教、教师 dashboard、一到两个课堂试点；最后平台化：课程包、校本部署、LMS 和课堂分析，以及手势 / AR 交互原型。每一步都保持基础课程在没有 AI、没有付费平台的情况下可运行。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的部分我们很克制。它只拿只读上下文，做解释、追问和提示；它不能推进阶段、不能标记完成、不能看完整答案。未来如果接记忆或云端，一定先做明确同意。更重要的是，AI 断开时课程仍然能继续，因为完成条件在课程引擎里，不在模型里。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未来交互我们想加手势，但不会把它设成必选项。对课程来说，手势只是输入层：指向、捏合、双手拆层，最后都要翻译成同一个语义动作，再交给课程引擎。这样鼠标、触屏、摄像头、深度相机甚至 WebXR 都能接，但课程判定不变。第一阶段只做指向和捏合，摄像头本地处理、不录视频，并且只在确实比鼠标更自然时才启用。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我们现在最需要的不是一句“很好”，而是几个真实课堂。希望找 3 到 5 位老师或 1 到 2 所学校，用 4 到 6 周做一次试点：选一节最难的课，学生用，老师看，我们一起看完成率、停留时间、错误分布和前后测。合作可以是开放核心、课程共建或校本部署。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最后，用一句话收束：让每个学生都能走进细胞。现在公开网页上已经可以体验跨膜运输和 FRAP 两节课；如果你愿意，我们可以从你最难讲的一节课开始，一起做下一次试点。谢谢。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133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502920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CELL ATLAS / 胞宇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713232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E8F8F4"/>
                </a:solidFill>
                <a:latin typeface="SimSun"/>
              </a:rPr>
              <a:t>走进细胞的世界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9572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FF7E4"/>
                </a:solidFill>
                <a:latin typeface="Microsoft YaHei"/>
              </a:rPr>
              <a:t>一个浏览器里的 3D 细胞生物学课程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054096"/>
            <a:ext cx="475488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3273552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7C0BC"/>
                </a:solidFill>
                <a:latin typeface="Microsoft YaHei"/>
              </a:rPr>
              <a:t>从一节可完成的样板课，到一门可运营的课程。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989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837F"/>
                </a:solidFill>
                <a:latin typeface="Microsoft YaHei"/>
              </a:rPr>
              <a:t>产品介绍与未来构想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263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6837F"/>
                </a:solidFill>
                <a:latin typeface="Microsoft YaHei"/>
              </a:rPr>
              <a:t>16 章 · 44 节 · 14 个 3D 模型 · 2 节完整互动课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01 /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细胞生物学，难在“看见”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2996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A7C0BC"/>
                </a:solidFill>
                <a:latin typeface="Microsoft YaHei"/>
              </a:rPr>
              <a:t>课本上的细胞是静态的，视频里的细胞是别人的。学生需要的是能自己操作的空间。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209544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5102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7C0BC"/>
                </a:solidFill>
                <a:latin typeface="Microsoft YaHei"/>
              </a:rPr>
              <a:t>平面图讲不清三维关系：膜、通道、泵、细胞器都在同一个空间里。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941064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102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7C0BC"/>
                </a:solidFill>
                <a:latin typeface="Microsoft YaHei"/>
              </a:rPr>
              <a:t>视频看懂了，动手仍不会：知识没有经过“操作—反馈—修正”。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672584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5102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7C0BC"/>
                </a:solidFill>
                <a:latin typeface="Microsoft YaHei"/>
              </a:rPr>
              <a:t>模型、教材、练习彼此割裂：学生不知道下一步该做什么。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440680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5605272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FF7E4"/>
                </a:solidFill>
                <a:latin typeface="SimSun"/>
              </a:rPr>
              <a:t>学生不是缺信息，而是缺一个可以操作的空间。</a:t>
            </a:r>
          </a:p>
        </p:txBody>
      </p:sp>
      <p:pic>
        <p:nvPicPr>
          <p:cNvPr id="23" name="Picture 22" descr="model-nucleus-555x5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5074920" cy="5029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92240" y="914400"/>
            <a:ext cx="5074920" cy="5029200"/>
          </a:xfrm>
          <a:prstGeom prst="rect">
            <a:avLst/>
          </a:prstGeom>
          <a:solidFill>
            <a:srgbClr val="02070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92240" y="914400"/>
            <a:ext cx="5074920" cy="502920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56831" y="5522976"/>
            <a:ext cx="201168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31152" y="546811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细胞核 / 3D specimen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02 /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786384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E8F8F4"/>
                </a:solidFill>
                <a:latin typeface="SimSun"/>
              </a:rPr>
              <a:t>不是一套视频，而是一间可操作的细胞教室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7C0BC"/>
                </a:solidFill>
                <a:latin typeface="Microsoft YaHei"/>
              </a:rPr>
              <a:t>把教材、3D 模型、互动实验和练习，放进同一个浏览器。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889503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7C0BC"/>
                </a:solidFill>
                <a:latin typeface="Microsoft YaHei"/>
              </a:rPr>
              <a:t>16 章 / 44 节：与教材章节和页码对齐。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456432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355848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7C0BC"/>
                </a:solidFill>
                <a:latin typeface="Microsoft YaHei"/>
              </a:rPr>
              <a:t>14 个模型：8 个结构模型 + 6 个实验方法模型。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023360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3922776"/>
            <a:ext cx="4828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7C0BC"/>
                </a:solidFill>
                <a:latin typeface="Microsoft YaHei"/>
              </a:rPr>
              <a:t>两节完整互动课：跨膜运输、膜的流动性与 FRAP。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5720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46817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7FF7E4"/>
                </a:solidFill>
                <a:latin typeface="SimSun"/>
              </a:rPr>
              <a:t>2 / 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166360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A7C0BC"/>
                </a:solidFill>
                <a:latin typeface="Microsoft YaHei"/>
              </a:rPr>
              <a:t>已完整互动化的节数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5720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10712" y="46817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7FF7E4"/>
                </a:solidFill>
                <a:latin typeface="SimSun"/>
              </a:rPr>
              <a:t>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5166360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A7C0BC"/>
                </a:solidFill>
                <a:latin typeface="Microsoft YaHei"/>
              </a:rPr>
              <a:t>自动化测试</a:t>
            </a:r>
          </a:p>
        </p:txBody>
      </p:sp>
      <p:pic>
        <p:nvPicPr>
          <p:cNvPr id="27" name="Picture 26" descr="model-transport-610x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868680"/>
            <a:ext cx="5577840" cy="48920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989320" y="868680"/>
            <a:ext cx="5577840" cy="4892040"/>
          </a:xfrm>
          <a:prstGeom prst="rect">
            <a:avLst/>
          </a:prstGeom>
          <a:solidFill>
            <a:srgbClr val="02070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989320" y="868680"/>
            <a:ext cx="5577840" cy="489204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53912" y="5340096"/>
            <a:ext cx="201168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28231" y="528523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跨膜运输 / 互动课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03 / LEARNING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04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四个阶段，把“看懂”变成“做对”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783080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19385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F7E4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317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认识结构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点击膜、通道、泵、ATP，在模型里定位角色。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51960"/>
            <a:ext cx="347472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410712" y="1783080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93592" y="19385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F7E4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3317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观察机制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28803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播放 E1–E2 循环，或逐步查看每一步。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3592" y="4251960"/>
            <a:ext cx="347472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227064" y="1783080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9944" y="19385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F7E4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3317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动手探索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8803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改条件、做预测、运行实验，比较结果。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9944" y="4251960"/>
            <a:ext cx="347472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9043416" y="1783080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26296" y="19385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F7E4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3317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场景练习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288036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辨认、排序、解释，完成迁移。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6296" y="4251960"/>
            <a:ext cx="347472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4360" y="507492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FF7E4"/>
                </a:solidFill>
                <a:latin typeface="SimSun"/>
              </a:rPr>
              <a:t>每次点击、每次作答，都是课程引擎的证据；不依赖 AI，也能完成。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614416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837F"/>
                </a:solidFill>
                <a:latin typeface="Microsoft YaHei"/>
              </a:rPr>
              <a:t>自由浏览被允许，但结课要求所有阶段都有当前有效证据。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04 /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0">
                <a:solidFill>
                  <a:srgbClr val="E8F8F4"/>
                </a:solidFill>
                <a:latin typeface="SimSun"/>
              </a:rPr>
              <a:t>课程引擎是核心，AI 只是可选层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2128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F8F4"/>
                </a:solidFill>
                <a:latin typeface="Microsoft YaHei"/>
              </a:rPr>
              <a:t>课程定义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42032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7C0BC"/>
                </a:solidFill>
                <a:latin typeface="Microsoft YaHei"/>
              </a:rPr>
              <a:t>flow / lesson / experiment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0116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B2E2B"/>
          </a:solidFill>
          <a:ln w="8890">
            <a:solidFill>
              <a:srgbClr val="7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20440" y="21488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FF7E4"/>
                </a:solidFill>
                <a:latin typeface="Microsoft YaHei"/>
              </a:rPr>
              <a:t>课程引擎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42032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A7C0BC"/>
                </a:solidFill>
                <a:latin typeface="Microsoft YaHei"/>
              </a:rPr>
              <a:t>evidence · gating ·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0116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7920" y="22128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F8F4"/>
                </a:solidFill>
                <a:latin typeface="Microsoft YaHei"/>
              </a:rPr>
              <a:t>UI / 3D 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42032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7C0BC"/>
                </a:solidFill>
                <a:latin typeface="Microsoft YaHei"/>
              </a:rPr>
              <a:t>操作 · 反馈 · 进度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0116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3B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15400" y="22128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D899"/>
                </a:solidFill>
                <a:latin typeface="Microsoft YaHei"/>
              </a:rPr>
              <a:t>可选 AI 助教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4203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A7C0BC"/>
                </a:solidFill>
                <a:latin typeface="Microsoft YaHei"/>
              </a:rPr>
              <a:t>只读上下文 · 解释 / 提示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2219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2219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2219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401568"/>
            <a:ext cx="352044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520440" y="3273552"/>
            <a:ext cx="9144" cy="274320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03320" y="34930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D899"/>
                </a:solidFill>
                <a:latin typeface="Microsoft YaHei"/>
              </a:rPr>
              <a:t>只读观察者 / 不允许标记完成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核心原则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62272"/>
            <a:ext cx="5212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8F8F4"/>
                </a:solidFill>
                <a:latin typeface="SimSun"/>
              </a:rPr>
              <a:t>没有 AI，课程也必须能完成。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266944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1247" y="5166360"/>
            <a:ext cx="55595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证据驱动：事件按阶段和轮次隔离，撤销不删除历史。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50992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1247" y="5550408"/>
            <a:ext cx="55595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确定性：目标实验、完成门槛和快照校验都由代码决定。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035040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1247" y="5934456"/>
            <a:ext cx="55595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可恢复：本地保存进度；刷新继续，不上传答案。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074920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FD899"/>
                </a:solidFill>
                <a:latin typeface="Microsoft YaHei"/>
              </a:rPr>
              <a:t>AI 可以解释、追问、给提示；不能替学生完成，也不能改成绩。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05 /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06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0">
                <a:solidFill>
                  <a:srgbClr val="E8F8F4"/>
                </a:solidFill>
                <a:latin typeface="SimSun"/>
              </a:rPr>
              <a:t>两节完整互动课，44 节内容地图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600200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0B2E2B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18105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FFD899"/>
                </a:solidFill>
                <a:latin typeface="Microsoft YaHei"/>
              </a:rPr>
              <a:t>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8F4"/>
                </a:solidFill>
                <a:latin typeface="SimSun"/>
              </a:rPr>
              <a:t>跨膜运输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5 步 E1–E2 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729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ATP 0% 目标实验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57015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三道练习 + 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已完成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600200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2B2014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80560" y="18105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FFD899"/>
                </a:solidFill>
                <a:latin typeface="Microsoft YaHei"/>
              </a:rPr>
              <a:t>MEMBRANE FLUIDITY &amp; FRAP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8F4"/>
                </a:solidFill>
                <a:latin typeface="SimSun"/>
              </a:rPr>
              <a:t>膜的流动性与 FRAP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7889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4 步漂白—交换—平台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729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可移动比例 / 交换速度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57015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·  平台 / 半时双指标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79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已完成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7373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内容地图：16 章 / 44 节 / 14 个模型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1488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6837F"/>
                </a:solidFill>
                <a:latin typeface="Microsoft YaHei"/>
              </a:rPr>
              <a:t>已完整互动化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>
                <a:solidFill>
                  <a:srgbClr val="E8F8F4"/>
                </a:solidFill>
                <a:latin typeface="SimSun"/>
              </a:rPr>
              <a:t>2 / 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D899"/>
                </a:solidFill>
                <a:latin typeface="Microsoft YaHei"/>
              </a:rPr>
              <a:t>下一节：FRET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61188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其余章节已有教材内容、页码、学习目标和模型映射；尚缺同等级的互动脚本与练习。</a:t>
            </a:r>
          </a:p>
        </p:txBody>
      </p:sp>
      <p:pic>
        <p:nvPicPr>
          <p:cNvPr id="33" name="Picture 32" descr="frap-desktop-experiment-430x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617720"/>
            <a:ext cx="3931920" cy="141732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635240" y="4617720"/>
            <a:ext cx="3931920" cy="1417320"/>
          </a:xfrm>
          <a:prstGeom prst="rect">
            <a:avLst/>
          </a:prstGeom>
          <a:solidFill>
            <a:srgbClr val="02070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635240" y="4617720"/>
            <a:ext cx="3931920" cy="141732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799831" y="5614416"/>
            <a:ext cx="201168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74152" y="5559552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FRAP / 对照曲线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06 /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07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0">
                <a:solidFill>
                  <a:srgbClr val="E8F8F4"/>
                </a:solidFill>
                <a:latin typeface="SimSun"/>
              </a:rPr>
              <a:t>全程序化：零外部模型与贴图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7C0BC"/>
                </a:solidFill>
                <a:latin typeface="Microsoft YaHei"/>
              </a:rPr>
              <a:t>所有几何、材质、粒子和标签都由代码生成；不依赖下载的 3D 资产。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PROCEDURAL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43784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F8F4"/>
                </a:solidFill>
                <a:latin typeface="Microsoft YaHei"/>
              </a:rPr>
              <a:t>几何 / 着色器 / 粒子 / 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92424"/>
            <a:ext cx="53035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TWO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7647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F8F4"/>
                </a:solidFill>
                <a:latin typeface="Microsoft YaHei"/>
              </a:rPr>
              <a:t>静态网页 + DSH 聊天插件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25112"/>
            <a:ext cx="53035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47457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709159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F8F4"/>
                </a:solidFill>
                <a:latin typeface="Microsoft YaHei"/>
              </a:rPr>
              <a:t>72 个单元测试 + 真实浏览器回归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53035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FF7E4"/>
                </a:solidFill>
                <a:latin typeface="SimSun"/>
              </a:rPr>
              <a:t>同一套内容，两种到达方式。</a:t>
            </a:r>
          </a:p>
        </p:txBody>
      </p:sp>
      <p:pic>
        <p:nvPicPr>
          <p:cNvPr id="25" name="Picture 24" descr="model-frap-565x5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166360" cy="5212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400800" y="868680"/>
            <a:ext cx="5166360" cy="5212080"/>
          </a:xfrm>
          <a:prstGeom prst="rect">
            <a:avLst/>
          </a:prstGeom>
          <a:solidFill>
            <a:srgbClr val="02070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400800" y="868680"/>
            <a:ext cx="5166360" cy="521208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65392" y="5660136"/>
            <a:ext cx="201168" cy="18288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39712" y="56052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DSH 插件 / 同一课程在聊天内打开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07 /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08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学生在哪里，课程就到哪里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rap-desktop-experiment-550x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19072"/>
            <a:ext cx="5029200" cy="23317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8952" y="1719072"/>
            <a:ext cx="5029200" cy="2331720"/>
          </a:xfrm>
          <a:prstGeom prst="rect">
            <a:avLst/>
          </a:prstGeom>
          <a:solidFill>
            <a:srgbClr val="02070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58952" y="1719072"/>
            <a:ext cx="5029200" cy="233172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5528" y="4251960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PUBLIC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498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8F8F4"/>
                </a:solidFill>
                <a:latin typeface="SimSun"/>
              </a:rPr>
              <a:t>公开网页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010912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零安装、可分享；适合课前预习、课后复习和公开展示。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plugin-desktop-transport-entry-550x2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19072"/>
            <a:ext cx="5029200" cy="23317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28232" y="1719072"/>
            <a:ext cx="5029200" cy="2331720"/>
          </a:xfrm>
          <a:prstGeom prst="rect">
            <a:avLst/>
          </a:prstGeom>
          <a:solidFill>
            <a:srgbClr val="02070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28232" y="1719072"/>
            <a:ext cx="5029200" cy="2331720"/>
          </a:xfrm>
          <a:prstGeom prst="rect">
            <a:avLst/>
          </a:prstGeom>
          <a:noFill/>
          <a:ln w="889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64808" y="4251960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DSH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498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8F8F4"/>
                </a:solidFill>
                <a:latin typeface="SimSun"/>
              </a:rPr>
              <a:t>聊天内插件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010912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不离开对话；模型、课程和进度在同一个上下文里。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08 /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09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三种使用者，一个学习闭环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69164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187451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677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E8F8F4"/>
                </a:solidFill>
                <a:latin typeface="SimSun"/>
              </a:rPr>
              <a:t>学生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D899"/>
                </a:solidFill>
                <a:latin typeface="Microsoft YaHei"/>
              </a:rPr>
              <a:t>自己走一遍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7C0BC"/>
                </a:solidFill>
                <a:latin typeface="Microsoft YaHei"/>
              </a:rPr>
              <a:t>点结构、看机制、做目标实验；刷新后继续，错误可以重试。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9164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26280" y="187451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2677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E8F8F4"/>
                </a:solidFill>
                <a:latin typeface="SimSun"/>
              </a:rPr>
              <a:t>教师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D899"/>
                </a:solidFill>
                <a:latin typeface="Microsoft YaHei"/>
              </a:rPr>
              <a:t>看见学习过程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24612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7C0BC"/>
                </a:solidFill>
                <a:latin typeface="Microsoft YaHei"/>
              </a:rPr>
              <a:t>教材页码、章节映射、完成条件和练习反馈都在同一条路径上。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691640"/>
            <a:ext cx="3401568" cy="329184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187451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2677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E8F8F4"/>
                </a:solidFill>
                <a:latin typeface="SimSun"/>
              </a:rPr>
              <a:t>内容 / 技术团队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D899"/>
                </a:solidFill>
                <a:latin typeface="Microsoft YaHei"/>
              </a:rPr>
              <a:t>持续扩展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4612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7C0BC"/>
                </a:solidFill>
                <a:latin typeface="Microsoft YaHei"/>
              </a:rPr>
              <a:t>课程定义、实验、模型和进度模块解耦，下一节课可以复用模板。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406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FF7E4"/>
                </a:solidFill>
                <a:latin typeface="SimSun"/>
              </a:rPr>
              <a:t>不是“老师讲、学生看”，而是“学生操作、系统反馈、教师看见”。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09 / HONEST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10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今天能做什么，不能做什么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60020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94360" y="1600200"/>
            <a:ext cx="3401568" cy="45720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FF7E4"/>
                </a:solidFill>
                <a:latin typeface="Microsoft YaHei"/>
              </a:rPr>
              <a:t>已经可用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两节完整互动课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0779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14 个可旋转的 3D 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198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公开网页 + DSH 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本地保存、刷新续学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60020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97680" y="1600200"/>
            <a:ext cx="3401568" cy="45720"/>
          </a:xfrm>
          <a:prstGeom prst="rect">
            <a:avLst/>
          </a:prstGeom>
          <a:solidFill>
            <a:srgbClr val="FFD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2628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D899"/>
                </a:solidFill>
                <a:latin typeface="Microsoft YaHei"/>
              </a:rPr>
              <a:t>正在补齐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其余 42 节的互动脚本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90779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FRET 第三节样板课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198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课程注册表与作者工具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931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无障碍与更多设备适配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160020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01000" y="1600200"/>
            <a:ext cx="3401568" cy="45720"/>
          </a:xfrm>
          <a:prstGeom prst="rect">
            <a:avLst/>
          </a:prstGeom>
          <a:solidFill>
            <a:srgbClr val="66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6837F"/>
                </a:solidFill>
                <a:latin typeface="Microsoft YaHei"/>
              </a:rPr>
              <a:t>尚未接入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AI 助教 / Jarvis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0779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云端记忆与账号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4198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教师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931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课堂级分析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3212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F8F4"/>
                </a:solidFill>
                <a:latin typeface="SimSun"/>
              </a:rPr>
              <a:t>这是一个可运行的 MVP，不是完成品。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10 /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11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0">
                <a:solidFill>
                  <a:srgbClr val="E8F8F4"/>
                </a:solidFill>
                <a:latin typeface="SimSun"/>
              </a:rPr>
              <a:t>未来 12 个月：从样板课到课程平台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645920"/>
            <a:ext cx="3401568" cy="38862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0–3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8F4"/>
                </a:solidFill>
                <a:latin typeface="SimSun"/>
              </a:rPr>
              <a:t>内容深度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FRET 第三节样板课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5–8 节完整互动课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684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课程模板 + 教师试用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2504" y="3246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645920"/>
            <a:ext cx="3401568" cy="38862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2628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3–6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945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8F4"/>
                </a:solidFill>
                <a:latin typeface="SimSun"/>
              </a:rPr>
              <a:t>教学闭环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34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可选 AI 助教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01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教师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9684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1–2 个课堂试点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3246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1645920"/>
            <a:ext cx="3401568" cy="38862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6–12 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8F4"/>
                </a:solidFill>
                <a:latin typeface="SimSun"/>
              </a:rPr>
              <a:t>平台化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34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课程包与校本部署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01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LMS / 课堂分析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684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本地优先的记忆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3542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·  手势 / AR 交互原型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064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837F"/>
                </a:solidFill>
                <a:latin typeface="Microsoft YaHei"/>
              </a:rPr>
              <a:t>每一步都不依赖付费 AI，也不把基础课程锁在某个平台里。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11 /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12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>
                <a:solidFill>
                  <a:srgbClr val="E8F8F4"/>
                </a:solidFill>
                <a:latin typeface="SimSun"/>
              </a:rPr>
              <a:t>AI 是助教，不是裁判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72768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7FF7E4"/>
                </a:solidFill>
                <a:latin typeface="SimSun"/>
              </a:rPr>
              <a:t>先保证没有 AI 也能学完，再让 AI 让学习更好。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2423160" cy="10972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7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FF7E4"/>
                </a:solidFill>
                <a:latin typeface="Microsoft YaHei"/>
              </a:rPr>
              <a:t>课程引擎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证据 / 阶段 / 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889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2423160"/>
            <a:ext cx="2423160" cy="10972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3B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995928" y="2633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8F8F4"/>
                </a:solidFill>
                <a:latin typeface="Microsoft YaHei"/>
              </a:rPr>
              <a:t>只读上下文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阶段 / 汇总 / 无答案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889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FF7E4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423160"/>
            <a:ext cx="2423160" cy="109728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3B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04888" y="2633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D899"/>
                </a:solidFill>
                <a:latin typeface="Microsoft YaHei"/>
              </a:rPr>
              <a:t>AI 助教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A7C0BC"/>
                </a:solidFill>
                <a:latin typeface="Microsoft YaHei"/>
              </a:rPr>
              <a:t>解释 / 追问 / 提示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D899"/>
                </a:solidFill>
                <a:latin typeface="Microsoft YaHei"/>
              </a:rPr>
              <a:t>不能 dispatch · 不能改完成 · 不能看完整答案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72584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7" y="4572000"/>
            <a:ext cx="5102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最小上下文：只给当前阶段、当前步骤和汇总进度。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11496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010912"/>
            <a:ext cx="5102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明确同意：未来接入记忆或云端前，先让学生选择。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50408"/>
            <a:ext cx="73152" cy="73152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41247" y="5449824"/>
            <a:ext cx="5102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可离线：AI 断开、超时或拒绝服务时，课程继续。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51960"/>
            <a:ext cx="5074920" cy="1691640"/>
          </a:xfrm>
          <a:prstGeom prst="roundRect">
            <a:avLst>
              <a:gd name="adj" fmla="val 8000"/>
            </a:avLst>
          </a:prstGeom>
          <a:solidFill>
            <a:srgbClr val="16120C"/>
          </a:solidFill>
          <a:ln w="8890">
            <a:solidFill>
              <a:srgbClr val="4A3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29400" y="45262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D899"/>
                </a:solidFill>
                <a:latin typeface="SimSun"/>
              </a:rPr>
              <a:t>我们希望 AI 改变的是“解释方式”，不是“评价权力”。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12 / SPATIAL INTERACTION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13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>
                <a:solidFill>
                  <a:srgbClr val="E8F8F4"/>
                </a:solidFill>
                <a:latin typeface="SimSun"/>
              </a:rPr>
              <a:t>手势交互：可选，不强迫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7276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7C0BC"/>
                </a:solidFill>
                <a:latin typeface="Microsoft YaHei"/>
              </a:rPr>
              <a:t>让身体成为输入设备；鼠标、触屏和键盘仍然永远可用。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1488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11226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8F4"/>
                </a:solidFill>
                <a:latin typeface="Microsoft YaHei"/>
              </a:rPr>
              <a:t>指向识别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112264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食指射线点选膜、通道、泵或细胞器。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79192"/>
            <a:ext cx="50749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792" y="3081528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4495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8F4"/>
                </a:solidFill>
                <a:latin typeface="Microsoft YaHei"/>
              </a:rPr>
              <a:t>捏合缩放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044952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拇指—食指距离控制镜头与结构层级。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611880"/>
            <a:ext cx="50749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792" y="401421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8F4"/>
                </a:solidFill>
                <a:latin typeface="Microsoft YaHei"/>
              </a:rPr>
              <a:t>双手拆层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397764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A7C0BC"/>
                </a:solidFill>
                <a:latin typeface="Microsoft YaHei"/>
              </a:rPr>
              <a:t>两只手拉开膜、细胞器，或并排做对照。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4544568"/>
            <a:ext cx="507492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989320" y="1508760"/>
            <a:ext cx="5394960" cy="333756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452360" y="2240280"/>
            <a:ext cx="2468880" cy="1828800"/>
          </a:xfrm>
          <a:prstGeom prst="ellipse">
            <a:avLst/>
          </a:prstGeom>
          <a:noFill/>
          <a:ln w="10160">
            <a:solidFill>
              <a:srgbClr val="2B5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95260" y="2491740"/>
            <a:ext cx="1783080" cy="1325880"/>
          </a:xfrm>
          <a:prstGeom prst="ellipse">
            <a:avLst/>
          </a:prstGeom>
          <a:noFill/>
          <a:ln w="10160">
            <a:solidFill>
              <a:srgbClr val="3B6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2743200"/>
            <a:ext cx="1097280" cy="822960"/>
          </a:xfrm>
          <a:prstGeom prst="ellipse">
            <a:avLst/>
          </a:prstGeom>
          <a:noFill/>
          <a:ln w="10160">
            <a:solidFill>
              <a:srgbClr val="7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68512" y="2057400"/>
            <a:ext cx="36576" cy="2194560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269480" y="3136392"/>
            <a:ext cx="2834640" cy="36576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595360" y="3063240"/>
            <a:ext cx="182880" cy="182880"/>
          </a:xfrm>
          <a:prstGeom prst="ellipse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75564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24912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PINCH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60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FFD899"/>
                </a:solidFill>
                <a:latin typeface="Microsoft YaHei"/>
              </a:rPr>
              <a:t>PULL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6837F"/>
                </a:solidFill>
                <a:latin typeface="Microsoft YaHei"/>
              </a:rPr>
              <a:t>可选输入：摄像头 / 深度相机 / WebXR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73168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6837F"/>
                </a:solidFill>
                <a:latin typeface="Microsoft YaHei"/>
              </a:rPr>
              <a:t>先做“指向 + 捏合”，再考虑双手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138928"/>
            <a:ext cx="10972800" cy="1115568"/>
          </a:xfrm>
          <a:prstGeom prst="roundRect">
            <a:avLst>
              <a:gd name="adj" fmla="val 8000"/>
            </a:avLst>
          </a:prstGeom>
          <a:solidFill>
            <a:srgbClr val="081B1D"/>
          </a:solidFill>
          <a:ln w="8890">
            <a:solidFill>
              <a:srgbClr val="1E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" y="530352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FF7E4"/>
                </a:solidFill>
                <a:latin typeface="Microsoft YaHei"/>
              </a:rPr>
              <a:t>INPUT ADAPTER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77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F8F4"/>
                </a:solidFill>
                <a:latin typeface="Microsoft YaHei"/>
              </a:rPr>
              <a:t>鼠标 / 触屏 / 摄像头 / 深度相机 / WebXR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577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D899"/>
                </a:solidFill>
                <a:latin typeface="Microsoft YaHei"/>
              </a:rPr>
              <a:t>→  语义动作  →  课程引擎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925312"/>
            <a:ext cx="10241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A7C0BC"/>
                </a:solidFill>
                <a:latin typeface="Microsoft YaHei"/>
              </a:rPr>
              <a:t>可选开启 · 摄像头本地处理、不录视频 · 只有教学增益成立才上线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045952" y="0"/>
            <a:ext cx="5486" cy="6858000"/>
          </a:xfrm>
          <a:prstGeom prst="rect">
            <a:avLst/>
          </a:prstGeom>
          <a:solidFill>
            <a:srgbClr val="173A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5486"/>
          </a:xfrm>
          <a:prstGeom prst="rect">
            <a:avLst/>
          </a:prstGeom>
          <a:solidFill>
            <a:srgbClr val="173A3A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9260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13 / COLLABORATION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2920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6473952"/>
            <a:ext cx="11045952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CELL ATLAS / 产品介绍与未来构想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>
                <a:solidFill>
                  <a:srgbClr val="66837F"/>
                </a:solidFill>
                <a:latin typeface="Microsoft YaHei"/>
              </a:rPr>
              <a:t>14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E8F8F4"/>
                </a:solidFill>
                <a:latin typeface="SimSun"/>
              </a:rPr>
              <a:t>我们在找 3–5 个试点课堂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737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选一节最难的课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432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从跨膜运输或 FRAP 开始，带一个真实的教学目标来。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993392"/>
            <a:ext cx="306324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7680" y="1737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4–6 周试点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432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学生用、教师看；我们根据反馈调整课程和模型。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993392"/>
            <a:ext cx="306324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01000" y="1737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FF7E4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8F8F4"/>
                </a:solidFill>
                <a:latin typeface="SimSun"/>
              </a:rPr>
              <a:t>一起看证据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7432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A7C0BC"/>
                </a:solidFill>
                <a:latin typeface="Microsoft YaHei"/>
              </a:rPr>
              <a:t>完成率、停留时间、错误分布、前后测，而不是只看“好不好看”。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993392"/>
            <a:ext cx="3063240" cy="9144"/>
          </a:xfrm>
          <a:prstGeom prst="rect">
            <a:avLst/>
          </a:prstGeom>
          <a:solidFill>
            <a:srgbClr val="1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FF7E4"/>
                </a:solidFill>
                <a:latin typeface="Microsoft YaHei"/>
              </a:rPr>
              <a:t>合作方式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5720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952" y="47365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7C0BC"/>
                </a:solidFill>
                <a:latin typeface="Microsoft YaHei"/>
              </a:rPr>
              <a:t>开放核心：公开网页与课程引擎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5720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62272" y="47365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7C0BC"/>
                </a:solidFill>
                <a:latin typeface="Microsoft YaHei"/>
              </a:rPr>
              <a:t>课程共建：教材 / 模型 / 练习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5720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1217"/>
          </a:solidFill>
          <a:ln w="8890">
            <a:solidFill>
              <a:srgbClr val="17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65592" y="47365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7C0BC"/>
                </a:solidFill>
                <a:latin typeface="Microsoft YaHei"/>
              </a:rPr>
              <a:t>校本部署：全校或课程包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FF7E4"/>
                </a:solidFill>
                <a:latin typeface="SimSun"/>
              </a:rPr>
              <a:t>带一节你最难的课来，我们一起把它变成可以操作的模型。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133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0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502920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FF7E4"/>
                </a:solidFill>
                <a:latin typeface="Microsoft YaHei"/>
              </a:rPr>
              <a:t>CELL ATLAS / 胞宇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713232"/>
            <a:ext cx="292608" cy="12801"/>
          </a:xfrm>
          <a:prstGeom prst="rect">
            <a:avLst/>
          </a:prstGeom>
          <a:solidFill>
            <a:srgbClr val="7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>
                <a:solidFill>
                  <a:srgbClr val="E8F8F4"/>
                </a:solidFill>
                <a:latin typeface="SimSun"/>
              </a:rPr>
              <a:t>让每个学生，
都能走进细胞。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200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7FF7E4"/>
                </a:solidFill>
                <a:latin typeface="Microsoft YaHei"/>
              </a:rPr>
              <a:t>一个浏览器里的 3D 细胞生物学课程。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97763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6837F"/>
                </a:solidFill>
                <a:latin typeface="Microsoft YaHei"/>
              </a:rPr>
              <a:t>现在可以体验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8F4"/>
                </a:solidFill>
                <a:latin typeface="Microsoft YaHei"/>
              </a:rPr>
              <a:t>跨膜运输  ·  膜的流动性与 FRAP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920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D899"/>
                </a:solidFill>
                <a:latin typeface="Microsoft YaHei"/>
              </a:rPr>
              <a:t>https://herryatlas.github.io/cell-atlas/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303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7C0BC"/>
                </a:solidFill>
                <a:latin typeface="Microsoft YaHei"/>
              </a:rPr>
              <a:t>https://github.com/HerryAtlas/cell-atlas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989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7C0BC"/>
                </a:solidFill>
                <a:latin typeface="Microsoft YaHei"/>
              </a:rPr>
              <a:t>欢迎一起上第一节样板课，也欢迎带一节你想重做的课来。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